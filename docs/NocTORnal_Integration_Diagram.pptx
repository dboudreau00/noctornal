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Alpha, unaudited, never operated against real targets. The deck explains how the parts wire together, not that it is ready to switch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 is social, not technical. This is the framing the whole product follows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downstream follows from these three. If you only remember one slide, this is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that matters: there is no arrow from an extractor to the graph. An analyst's decision is the only thing that promotes a suggestion into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metric against 'the graph' is meaningless — every result travels with the projection that produced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Integrations are the leak path in every system of this kind. Not because anyone intends it — a Jira ticket quietly copies intelligence into a different access model with a much wider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short-circuit, so a denial names every reason it failed. The 404 on assignment is deliberate: a status code must never be an existence oracle.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process serves console and API same-origin, so there is no CORS surface. Three storage domains that share no credentials or blast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investigations, each lighting a different path through the same wiring. Chips are the console panes each one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steps. Walk it in the console if there is time — the showcase case is TLP:CLEAR and entirely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Treated as bugs when violated even if every test passes. Each has a test named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dwell on with anyone who has to sign the deployment off. A declaration is a string the software stores, not a fact it verifies.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difference that makes the tool worth building: a link chart is a picture of what somebody believed; this is a case file that survives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HUMINT · SOCIAL NETWORK ANALYSIS · CYBERCRIME INVESTIGATION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947220"/>
            <a:ext cx="1776984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95"/>
              </a:lnSpc>
              <a:buNone/>
            </a:pPr>
            <a:r>
              <a:rPr lang="en-US" sz="7800" b="1" spc="-23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NocTORnal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066800" y="5204520"/>
            <a:ext cx="1157668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graph of actors, personas and the trust between them — where every line of it traces back to an exhibit.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66800" y="8820150"/>
            <a:ext cx="8169473" cy="552450"/>
          </a:xfrm>
          <a:prstGeom prst="roundRect">
            <a:avLst>
              <a:gd name="adj" fmla="val 6897"/>
            </a:avLst>
          </a:prstGeom>
          <a:ln w="9525">
            <a:solidFill>
              <a:srgbClr val="C047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8924925"/>
            <a:ext cx="80907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108" kern="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 · UNAUDITED · NOT CERTIFIED FOR EVIDENTIAL 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63200" y="9029700"/>
            <a:ext cx="7543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Alembic head 0055 · 1269 tests · AGPL-3.0-or-later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2739479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WHAT IT IS FOR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539579"/>
            <a:ext cx="1412748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4800" b="1" spc="-96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working organised cybercrime spend most of their time on a question that is social, not technical: </a:t>
            </a:r>
            <a:pPr algn="l" indent="0" marL="0">
              <a:lnSpc>
                <a:spcPct val="99459"/>
              </a:lnSpc>
              <a:buNone/>
            </a:pPr>
            <a:r>
              <a:rPr lang="en-US" sz="4800" b="1" spc="-96" kern="0" dirty="0">
                <a:solidFill>
                  <a:srgbClr val="4E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trusts whom, and why?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66800" y="6099721"/>
            <a:ext cx="4749701" cy="1905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6347371"/>
            <a:ext cx="489219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broker vouched for which affiliate.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121301" y="6099721"/>
            <a:ext cx="4749850" cy="1905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" name="Text 5"/>
          <p:cNvSpPr/>
          <p:nvPr/>
        </p:nvSpPr>
        <p:spPr>
          <a:xfrm>
            <a:off x="6121301" y="6347371"/>
            <a:ext cx="489234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escrow both sides accept.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175950" y="6099721"/>
            <a:ext cx="4749701" cy="1905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9" name="Text 7"/>
          <p:cNvSpPr/>
          <p:nvPr/>
        </p:nvSpPr>
        <p:spPr>
          <a:xfrm>
            <a:off x="11175950" y="6347371"/>
            <a:ext cx="489219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handle here is the same human as that handle there — and how confident is anyone, really.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THE THREE IDEAS EVERYTHING FOLLOWS FROM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66800" y="1600200"/>
            <a:ext cx="5181600" cy="7848600"/>
          </a:xfrm>
          <a:prstGeom prst="roundRect">
            <a:avLst>
              <a:gd name="adj" fmla="val 1471"/>
            </a:avLst>
          </a:prstGeom>
          <a:solidFill>
            <a:srgbClr val="0E121B"/>
          </a:solidFill>
          <a:ln/>
        </p:spPr>
      </p:sp>
      <p:sp>
        <p:nvSpPr>
          <p:cNvPr id="4" name="Shape 2"/>
          <p:cNvSpPr/>
          <p:nvPr/>
        </p:nvSpPr>
        <p:spPr>
          <a:xfrm>
            <a:off x="1066800" y="9439275"/>
            <a:ext cx="51816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1600200"/>
            <a:ext cx="5181600" cy="381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" name="Shape 5"/>
          <p:cNvSpPr/>
          <p:nvPr/>
        </p:nvSpPr>
        <p:spPr>
          <a:xfrm>
            <a:off x="6238875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8" name="Text 6"/>
          <p:cNvSpPr/>
          <p:nvPr/>
        </p:nvSpPr>
        <p:spPr>
          <a:xfrm>
            <a:off x="1457325" y="2057400"/>
            <a:ext cx="4840605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3150" b="1" spc="-63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handle is not a person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457325" y="2746028"/>
            <a:ext cx="453256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is what was observed; PERSON is who an analyst assesses them to be. They are joined only by a reversible attribution carrying a confidence.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457325" y="8096250"/>
            <a:ext cx="44005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1" name="Text 9"/>
          <p:cNvSpPr/>
          <p:nvPr/>
        </p:nvSpPr>
        <p:spPr>
          <a:xfrm>
            <a:off x="1457325" y="8334375"/>
            <a:ext cx="45325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D4A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them and a wrong call can never be cleanly unwound.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53200" y="1600200"/>
            <a:ext cx="5181600" cy="7848600"/>
          </a:xfrm>
          <a:prstGeom prst="roundRect">
            <a:avLst>
              <a:gd name="adj" fmla="val 1471"/>
            </a:avLst>
          </a:prstGeom>
          <a:solidFill>
            <a:srgbClr val="0E121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9439275"/>
            <a:ext cx="51816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3200" y="1600200"/>
            <a:ext cx="5181600" cy="381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3200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25275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7" name="Text 15"/>
          <p:cNvSpPr/>
          <p:nvPr/>
        </p:nvSpPr>
        <p:spPr>
          <a:xfrm>
            <a:off x="6943725" y="2057400"/>
            <a:ext cx="4840605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3150" b="1" spc="-63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a fact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943725" y="2746028"/>
            <a:ext cx="453256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attribute and every edge traces to an assertion carrying a source, an Admiralty grading, a confidence, a basis and two timestamps.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943725" y="8439150"/>
            <a:ext cx="44005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3725" y="8677275"/>
            <a:ext cx="45325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D4A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 a source and the network changes.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39600" y="1600200"/>
            <a:ext cx="5181600" cy="7848600"/>
          </a:xfrm>
          <a:prstGeom prst="roundRect">
            <a:avLst>
              <a:gd name="adj" fmla="val 1471"/>
            </a:avLst>
          </a:prstGeom>
          <a:solidFill>
            <a:srgbClr val="0E121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39600" y="9439275"/>
            <a:ext cx="51816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39600" y="1600200"/>
            <a:ext cx="5181600" cy="381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39600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5" name="Shape 23"/>
          <p:cNvSpPr/>
          <p:nvPr/>
        </p:nvSpPr>
        <p:spPr>
          <a:xfrm>
            <a:off x="17211675" y="1600200"/>
            <a:ext cx="9525" cy="78486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6" name="Text 24"/>
          <p:cNvSpPr/>
          <p:nvPr/>
        </p:nvSpPr>
        <p:spPr>
          <a:xfrm>
            <a:off x="12430125" y="2057400"/>
            <a:ext cx="4532567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25"/>
              </a:lnSpc>
              <a:buNone/>
            </a:pPr>
            <a:r>
              <a:rPr lang="en-US" sz="3150" b="1" spc="-63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propose, analysts dispose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2430125" y="3206055"/>
            <a:ext cx="453256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Extractors and inference jobs write to the proposal queue. They cannot write a node or an edge.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430125" y="8096250"/>
            <a:ext cx="44005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9" name="Text 27"/>
          <p:cNvSpPr/>
          <p:nvPr/>
        </p:nvSpPr>
        <p:spPr>
          <a:xfrm>
            <a:off x="12430125" y="8334375"/>
            <a:ext cx="45325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D4A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that invents links is worse than no graph, because it looks authoritative.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700"/>
            <a:ext cx="33344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58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THE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945731" y="609600"/>
            <a:ext cx="552278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only ever reach the proposal queue.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85800" y="1245840"/>
            <a:ext cx="3728293" cy="8431560"/>
          </a:xfrm>
          <a:prstGeom prst="roundRect">
            <a:avLst>
              <a:gd name="adj" fmla="val 204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925" y="1483965"/>
            <a:ext cx="35772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58"/>
              </a:lnSpc>
              <a:buNone/>
            </a:pPr>
            <a:r>
              <a:rPr lang="en-US" sz="1800" spc="216" kern="0" dirty="0">
                <a:solidFill>
                  <a:srgbClr val="5CA8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23925" y="1948755"/>
            <a:ext cx="3252043" cy="1345704"/>
          </a:xfrm>
          <a:prstGeom prst="roundRect">
            <a:avLst>
              <a:gd name="adj" fmla="val 3539"/>
            </a:avLst>
          </a:prstGeom>
          <a:solidFill>
            <a:srgbClr val="151A26"/>
          </a:solidFill>
          <a:ln/>
        </p:spPr>
      </p:sp>
      <p:sp>
        <p:nvSpPr>
          <p:cNvPr id="7" name="Shape 5"/>
          <p:cNvSpPr/>
          <p:nvPr/>
        </p:nvSpPr>
        <p:spPr>
          <a:xfrm>
            <a:off x="923925" y="3284934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8" name="Shape 6"/>
          <p:cNvSpPr/>
          <p:nvPr/>
        </p:nvSpPr>
        <p:spPr>
          <a:xfrm>
            <a:off x="923925" y="1948755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9" name="Shape 7"/>
          <p:cNvSpPr/>
          <p:nvPr/>
        </p:nvSpPr>
        <p:spPr>
          <a:xfrm>
            <a:off x="923925" y="1948755"/>
            <a:ext cx="28575" cy="1345704"/>
          </a:xfrm>
          <a:prstGeom prst="rect">
            <a:avLst/>
          </a:prstGeom>
          <a:solidFill>
            <a:srgbClr val="5CA8C4"/>
          </a:solidFill>
          <a:ln/>
        </p:spPr>
      </p:sp>
      <p:sp>
        <p:nvSpPr>
          <p:cNvPr id="10" name="Shape 8"/>
          <p:cNvSpPr/>
          <p:nvPr/>
        </p:nvSpPr>
        <p:spPr>
          <a:xfrm>
            <a:off x="4166443" y="1948755"/>
            <a:ext cx="9525" cy="13457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2120205"/>
            <a:ext cx="21276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sources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23950" y="2469654"/>
            <a:ext cx="29571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· persona vault · watches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25" y="3427809"/>
            <a:ext cx="3252043" cy="1345704"/>
          </a:xfrm>
          <a:prstGeom prst="roundRect">
            <a:avLst>
              <a:gd name="adj" fmla="val 3539"/>
            </a:avLst>
          </a:prstGeom>
          <a:solidFill>
            <a:srgbClr val="151A26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925" y="4763988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5" name="Shape 13"/>
          <p:cNvSpPr/>
          <p:nvPr/>
        </p:nvSpPr>
        <p:spPr>
          <a:xfrm>
            <a:off x="923925" y="3427809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925" y="3427809"/>
            <a:ext cx="28575" cy="1345704"/>
          </a:xfrm>
          <a:prstGeom prst="rect">
            <a:avLst/>
          </a:prstGeom>
          <a:solidFill>
            <a:srgbClr val="5CA8C4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6443" y="3427809"/>
            <a:ext cx="9525" cy="13457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950" y="3599259"/>
            <a:ext cx="11788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API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3950" y="3948708"/>
            <a:ext cx="29571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write-only keys, raw kept before parse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3925" y="4906863"/>
            <a:ext cx="3252043" cy="1345704"/>
          </a:xfrm>
          <a:prstGeom prst="roundRect">
            <a:avLst>
              <a:gd name="adj" fmla="val 3539"/>
            </a:avLst>
          </a:prstGeom>
          <a:solidFill>
            <a:srgbClr val="151A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925" y="6243042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925" y="4906863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925" y="4906863"/>
            <a:ext cx="28575" cy="1345704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6443" y="4906863"/>
            <a:ext cx="9525" cy="13457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5" name="Text 23"/>
          <p:cNvSpPr/>
          <p:nvPr/>
        </p:nvSpPr>
        <p:spPr>
          <a:xfrm>
            <a:off x="1123950" y="5078313"/>
            <a:ext cx="176450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capture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23950" y="5427762"/>
            <a:ext cx="29571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· upload · contact block · .eml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75993" y="1245840"/>
            <a:ext cx="495300" cy="8469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4833193" y="1245840"/>
            <a:ext cx="3728293" cy="6914406"/>
          </a:xfrm>
          <a:prstGeom prst="roundRect">
            <a:avLst>
              <a:gd name="adj" fmla="val 204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1318" y="1483965"/>
            <a:ext cx="357724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58"/>
              </a:lnSpc>
              <a:buNone/>
            </a:pPr>
            <a:r>
              <a:rPr lang="en-US" sz="1800" spc="216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71318" y="1929705"/>
            <a:ext cx="357724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Extractors &amp; parsers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071318" y="2430661"/>
            <a:ext cx="334960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blocks, Received chains, selector normalisers, dedupe.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71318" y="7116366"/>
            <a:ext cx="3252043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3" name="Text 31"/>
          <p:cNvSpPr/>
          <p:nvPr/>
        </p:nvSpPr>
        <p:spPr>
          <a:xfrm>
            <a:off x="5071318" y="7259241"/>
            <a:ext cx="334960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D4A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no writer. It cannot create a node.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833193" y="8293596"/>
            <a:ext cx="3728293" cy="1383804"/>
          </a:xfrm>
          <a:prstGeom prst="roundRect">
            <a:avLst>
              <a:gd name="adj" fmla="val 5507"/>
            </a:avLst>
          </a:prstGeom>
          <a:solidFill>
            <a:srgbClr val="0E121B"/>
          </a:solidFill>
          <a:ln w="9525">
            <a:solidFill>
              <a:srgbClr val="C0473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052268" y="8474571"/>
            <a:ext cx="361915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C047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letter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052268" y="8833545"/>
            <a:ext cx="338884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with the raw fragment. Nothing is silently dropped.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23387" y="1245840"/>
            <a:ext cx="495300" cy="8469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8980587" y="1245840"/>
            <a:ext cx="3728442" cy="1536204"/>
          </a:xfrm>
          <a:prstGeom prst="roundRect">
            <a:avLst>
              <a:gd name="adj" fmla="val 496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18712" y="1464915"/>
            <a:ext cx="357741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714"/>
              </a:lnSpc>
              <a:buNone/>
            </a:pPr>
            <a:r>
              <a:rPr lang="en-US" sz="195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collect.proposal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218712" y="1900089"/>
            <a:ext cx="334975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ACCEPTED · REJECTED · DISPUTED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980587" y="2915394"/>
            <a:ext cx="3728442" cy="6762006"/>
          </a:xfrm>
          <a:prstGeom prst="roundRect">
            <a:avLst>
              <a:gd name="adj" fmla="val 2044"/>
            </a:avLst>
          </a:prstGeom>
          <a:solidFill>
            <a:srgbClr val="151A26"/>
          </a:solidFill>
          <a:ln w="9525">
            <a:solidFill>
              <a:srgbClr val="4EA8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18712" y="3153519"/>
            <a:ext cx="357741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58"/>
              </a:lnSpc>
              <a:buNone/>
            </a:pPr>
            <a:r>
              <a:rPr lang="en-US" sz="1800" spc="216" kern="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ANALYST TRIAGE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18712" y="3618309"/>
            <a:ext cx="3349758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Accept, reject or defer. A deferral parks the ambiguous item rather than forcing a yes/no.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218712" y="5077420"/>
            <a:ext cx="3349758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acceptance writes an assertion carrying the machine's rationale.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670929" y="1245840"/>
            <a:ext cx="495300" cy="8469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3128129" y="1245840"/>
            <a:ext cx="4474071" cy="8431560"/>
          </a:xfrm>
          <a:prstGeom prst="roundRect">
            <a:avLst>
              <a:gd name="adj" fmla="val 1703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366254" y="1483965"/>
            <a:ext cx="439760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58"/>
              </a:lnSpc>
              <a:buNone/>
            </a:pPr>
            <a:r>
              <a:rPr lang="en-US" sz="1800" spc="216" kern="0" dirty="0">
                <a:solidFill>
                  <a:srgbClr val="9B7F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3366254" y="1967805"/>
            <a:ext cx="1932236" cy="2329458"/>
          </a:xfrm>
          <a:prstGeom prst="roundRect">
            <a:avLst>
              <a:gd name="adj" fmla="val 2465"/>
            </a:avLst>
          </a:prstGeom>
          <a:solidFill>
            <a:srgbClr val="151A26"/>
          </a:solidFill>
          <a:ln/>
        </p:spPr>
      </p:sp>
      <p:sp>
        <p:nvSpPr>
          <p:cNvPr id="49" name="Shape 47"/>
          <p:cNvSpPr/>
          <p:nvPr/>
        </p:nvSpPr>
        <p:spPr>
          <a:xfrm>
            <a:off x="13366254" y="4287738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0" name="Shape 48"/>
          <p:cNvSpPr/>
          <p:nvPr/>
        </p:nvSpPr>
        <p:spPr>
          <a:xfrm>
            <a:off x="13366254" y="1967805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366254" y="1967805"/>
            <a:ext cx="28575" cy="2329458"/>
          </a:xfrm>
          <a:prstGeom prst="rect">
            <a:avLst/>
          </a:prstGeom>
          <a:solidFill>
            <a:srgbClr val="9B7FD4"/>
          </a:solidFill>
          <a:ln/>
        </p:spPr>
      </p:sp>
      <p:sp>
        <p:nvSpPr>
          <p:cNvPr id="52" name="Shape 50"/>
          <p:cNvSpPr/>
          <p:nvPr/>
        </p:nvSpPr>
        <p:spPr>
          <a:xfrm>
            <a:off x="15288964" y="1967805"/>
            <a:ext cx="9525" cy="2329458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3" name="Text 51"/>
          <p:cNvSpPr/>
          <p:nvPr/>
        </p:nvSpPr>
        <p:spPr>
          <a:xfrm>
            <a:off x="13547229" y="2120205"/>
            <a:ext cx="109091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ledger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3547229" y="2828627"/>
            <a:ext cx="1665536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 Admiralty · confidence · time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431839" y="1967805"/>
            <a:ext cx="1932236" cy="2329458"/>
          </a:xfrm>
          <a:prstGeom prst="roundRect">
            <a:avLst>
              <a:gd name="adj" fmla="val 2465"/>
            </a:avLst>
          </a:prstGeom>
          <a:solidFill>
            <a:srgbClr val="151A26"/>
          </a:solidFill>
          <a:ln/>
        </p:spPr>
      </p:sp>
      <p:sp>
        <p:nvSpPr>
          <p:cNvPr id="56" name="Shape 54"/>
          <p:cNvSpPr/>
          <p:nvPr/>
        </p:nvSpPr>
        <p:spPr>
          <a:xfrm>
            <a:off x="15431839" y="4287738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7" name="Shape 55"/>
          <p:cNvSpPr/>
          <p:nvPr/>
        </p:nvSpPr>
        <p:spPr>
          <a:xfrm>
            <a:off x="15431839" y="1967805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8" name="Shape 56"/>
          <p:cNvSpPr/>
          <p:nvPr/>
        </p:nvSpPr>
        <p:spPr>
          <a:xfrm>
            <a:off x="15431839" y="1967805"/>
            <a:ext cx="28575" cy="2329458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59" name="Shape 57"/>
          <p:cNvSpPr/>
          <p:nvPr/>
        </p:nvSpPr>
        <p:spPr>
          <a:xfrm>
            <a:off x="17354550" y="1967805"/>
            <a:ext cx="9525" cy="2329458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60" name="Text 58"/>
          <p:cNvSpPr/>
          <p:nvPr/>
        </p:nvSpPr>
        <p:spPr>
          <a:xfrm>
            <a:off x="15612814" y="2120205"/>
            <a:ext cx="7439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15612814" y="2469654"/>
            <a:ext cx="1665536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signed, time-bounded, IDENTITY ≠ PERSON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3366254" y="4430613"/>
            <a:ext cx="1932236" cy="1998018"/>
          </a:xfrm>
          <a:prstGeom prst="roundRect">
            <a:avLst>
              <a:gd name="adj" fmla="val 2465"/>
            </a:avLst>
          </a:prstGeom>
          <a:solidFill>
            <a:srgbClr val="151A26"/>
          </a:solidFill>
          <a:ln/>
        </p:spPr>
      </p:sp>
      <p:sp>
        <p:nvSpPr>
          <p:cNvPr id="63" name="Shape 61"/>
          <p:cNvSpPr/>
          <p:nvPr/>
        </p:nvSpPr>
        <p:spPr>
          <a:xfrm>
            <a:off x="13366254" y="6419106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64" name="Shape 62"/>
          <p:cNvSpPr/>
          <p:nvPr/>
        </p:nvSpPr>
        <p:spPr>
          <a:xfrm>
            <a:off x="13366254" y="4430613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65" name="Shape 63"/>
          <p:cNvSpPr/>
          <p:nvPr/>
        </p:nvSpPr>
        <p:spPr>
          <a:xfrm>
            <a:off x="13366254" y="4430613"/>
            <a:ext cx="28575" cy="1998018"/>
          </a:xfrm>
          <a:prstGeom prst="rect">
            <a:avLst/>
          </a:prstGeom>
          <a:solidFill>
            <a:srgbClr val="C4A85C"/>
          </a:solidFill>
          <a:ln/>
        </p:spPr>
      </p:sp>
      <p:sp>
        <p:nvSpPr>
          <p:cNvPr id="66" name="Shape 64"/>
          <p:cNvSpPr/>
          <p:nvPr/>
        </p:nvSpPr>
        <p:spPr>
          <a:xfrm>
            <a:off x="15288964" y="4430613"/>
            <a:ext cx="9525" cy="1998018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67" name="Text 65"/>
          <p:cNvSpPr/>
          <p:nvPr/>
        </p:nvSpPr>
        <p:spPr>
          <a:xfrm>
            <a:off x="13547229" y="4583013"/>
            <a:ext cx="135508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WORM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3547229" y="5291435"/>
            <a:ext cx="1665536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dual-hashed, custody records reads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431839" y="4430613"/>
            <a:ext cx="1932236" cy="1998018"/>
          </a:xfrm>
          <a:prstGeom prst="roundRect">
            <a:avLst>
              <a:gd name="adj" fmla="val 2465"/>
            </a:avLst>
          </a:prstGeom>
          <a:solidFill>
            <a:srgbClr val="151A26"/>
          </a:solidFill>
          <a:ln/>
        </p:spPr>
      </p:sp>
      <p:sp>
        <p:nvSpPr>
          <p:cNvPr id="70" name="Shape 68"/>
          <p:cNvSpPr/>
          <p:nvPr/>
        </p:nvSpPr>
        <p:spPr>
          <a:xfrm>
            <a:off x="15431839" y="6419106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1" name="Shape 69"/>
          <p:cNvSpPr/>
          <p:nvPr/>
        </p:nvSpPr>
        <p:spPr>
          <a:xfrm>
            <a:off x="15431839" y="4430613"/>
            <a:ext cx="1932236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2" name="Shape 70"/>
          <p:cNvSpPr/>
          <p:nvPr/>
        </p:nvSpPr>
        <p:spPr>
          <a:xfrm>
            <a:off x="15431839" y="4430613"/>
            <a:ext cx="28575" cy="1998018"/>
          </a:xfrm>
          <a:prstGeom prst="rect">
            <a:avLst/>
          </a:prstGeom>
          <a:solidFill>
            <a:srgbClr val="C46E8A"/>
          </a:solidFill>
          <a:ln/>
        </p:spPr>
      </p:sp>
      <p:sp>
        <p:nvSpPr>
          <p:cNvPr id="73" name="Shape 71"/>
          <p:cNvSpPr/>
          <p:nvPr/>
        </p:nvSpPr>
        <p:spPr>
          <a:xfrm>
            <a:off x="17354550" y="4430613"/>
            <a:ext cx="9525" cy="1998018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4" name="Text 72"/>
          <p:cNvSpPr/>
          <p:nvPr/>
        </p:nvSpPr>
        <p:spPr>
          <a:xfrm>
            <a:off x="15612814" y="4583013"/>
            <a:ext cx="1170236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&amp; deception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5612814" y="5291435"/>
            <a:ext cx="166553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never render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3366254" y="7970639"/>
            <a:ext cx="3997821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7" name="Text 75"/>
          <p:cNvSpPr/>
          <p:nvPr/>
        </p:nvSpPr>
        <p:spPr>
          <a:xfrm>
            <a:off x="13366254" y="8113514"/>
            <a:ext cx="4117756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D4A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constraint triggers reject any element without an assertion by commit — the guarantee is in the database, not the convention.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FROM THE MODEL TO A FINDING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66800" y="1524000"/>
            <a:ext cx="5105400" cy="7924800"/>
          </a:xfrm>
          <a:prstGeom prst="roundRect">
            <a:avLst>
              <a:gd name="adj" fmla="val 1493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9225" y="1876425"/>
            <a:ext cx="48406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700" b="1" spc="-27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19225" y="2600325"/>
            <a:ext cx="971550" cy="476250"/>
          </a:xfrm>
          <a:prstGeom prst="roundRect">
            <a:avLst>
              <a:gd name="adj" fmla="val 8000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2100" y="266700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86025" y="2600325"/>
            <a:ext cx="2068860" cy="476250"/>
          </a:xfrm>
          <a:prstGeom prst="roundRect">
            <a:avLst>
              <a:gd name="adj" fmla="val 8000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2667000"/>
            <a:ext cx="18593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9225" y="3171825"/>
            <a:ext cx="1520279" cy="476250"/>
          </a:xfrm>
          <a:prstGeom prst="roundRect">
            <a:avLst>
              <a:gd name="adj" fmla="val 8000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62100" y="3238500"/>
            <a:ext cx="1310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financial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34754" y="3171825"/>
            <a:ext cx="1383060" cy="476250"/>
          </a:xfrm>
          <a:prstGeom prst="roundRect">
            <a:avLst>
              <a:gd name="adj" fmla="val 8000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7629" y="3238500"/>
            <a:ext cx="1173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ties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9225" y="3857625"/>
            <a:ext cx="4532567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plumbing stays out — it would make whichever persona you researched hardest look the most central. Inferred edges render dashed and stay out of the metrics unless a projection opts in.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134100" y="1524000"/>
            <a:ext cx="495300" cy="796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591300" y="1524000"/>
            <a:ext cx="5105400" cy="7924800"/>
          </a:xfrm>
          <a:prstGeom prst="roundRect">
            <a:avLst>
              <a:gd name="adj" fmla="val 1493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3725" y="1876425"/>
            <a:ext cx="48406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700" b="1" spc="-27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analysis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943725" y="2600325"/>
            <a:ext cx="453256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Betweenness, eigenvector, k-core, Burt's constraint and Leiden communities over igraph's C core.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943725" y="3881438"/>
            <a:ext cx="28575" cy="142875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19" name="Text 17"/>
          <p:cNvSpPr/>
          <p:nvPr/>
        </p:nvSpPr>
        <p:spPr>
          <a:xfrm>
            <a:off x="7124700" y="3881438"/>
            <a:ext cx="4351592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Key-player is a set problem, not the top-n by centrality: two brokers who redundantly bridge the same pair are worth less together than either alone.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658600" y="1524000"/>
            <a:ext cx="495300" cy="796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115800" y="1524000"/>
            <a:ext cx="5105400" cy="7924800"/>
          </a:xfrm>
          <a:prstGeom prst="roundRect">
            <a:avLst>
              <a:gd name="adj" fmla="val 1493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68225" y="1876425"/>
            <a:ext cx="48406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700" b="1" spc="-27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 and the report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2468225" y="2600325"/>
            <a:ext cx="453256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ranked by inconsistency: the one that survives is the one with the least evidence against it, not the most for it.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468225" y="3881438"/>
            <a:ext cx="4532567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builds at a target classification, and the redaction is </a:t>
            </a:r>
            <a:pPr algn="l" indent="0" marL="0">
              <a:lnSpc>
                <a:spcPct val="129310"/>
              </a:lnSpc>
              <a:buNone/>
            </a:pPr>
            <a:r>
              <a:rPr lang="en-US" sz="1875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</a:t>
            </a:r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nothing above the target is read at any point.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620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INTEGRATIONS, AND THE ONE FUNCTION THEY ALL PASS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1447800"/>
            <a:ext cx="146685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outbound path checks classification before it sends.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66800" y="2384971"/>
            <a:ext cx="5158829" cy="809625"/>
          </a:xfrm>
          <a:prstGeom prst="roundRect">
            <a:avLst>
              <a:gd name="adj" fmla="val 9412"/>
            </a:avLst>
          </a:prstGeom>
          <a:solidFill>
            <a:srgbClr val="151A26"/>
          </a:solidFill>
          <a:ln w="9525">
            <a:solidFill>
              <a:srgbClr val="4EA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2604046"/>
            <a:ext cx="47611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can_egress(object, destination)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454229" y="2575471"/>
            <a:ext cx="32280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626C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929438" y="2487364"/>
            <a:ext cx="1072902" cy="604838"/>
          </a:xfrm>
          <a:prstGeom prst="roundRect">
            <a:avLst>
              <a:gd name="adj" fmla="val 78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29463" y="2611189"/>
            <a:ext cx="74905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8116639" y="2487364"/>
            <a:ext cx="998637" cy="604838"/>
          </a:xfrm>
          <a:prstGeom prst="roundRect">
            <a:avLst>
              <a:gd name="adj" fmla="val 78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16664" y="2611189"/>
            <a:ext cx="67478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229576" y="2487364"/>
            <a:ext cx="746671" cy="604838"/>
          </a:xfrm>
          <a:prstGeom prst="roundRect">
            <a:avLst>
              <a:gd name="adj" fmla="val 78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29601" y="2611189"/>
            <a:ext cx="42282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090547" y="2487364"/>
            <a:ext cx="1409998" cy="604838"/>
          </a:xfrm>
          <a:prstGeom prst="roundRect">
            <a:avLst>
              <a:gd name="adj" fmla="val 78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90572" y="2611189"/>
            <a:ext cx="108614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66800" y="3423196"/>
            <a:ext cx="5612160" cy="590550"/>
          </a:xfrm>
          <a:prstGeom prst="roundRect">
            <a:avLst>
              <a:gd name="adj" fmla="val 8065"/>
            </a:avLst>
          </a:prstGeom>
          <a:ln w="9525">
            <a:solidFill>
              <a:srgbClr val="C047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6825" y="3547021"/>
            <a:ext cx="53804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AMBER_STRICT / RED → refused + audited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4356646"/>
            <a:ext cx="5181600" cy="5168354"/>
          </a:xfrm>
          <a:prstGeom prst="roundRect">
            <a:avLst>
              <a:gd name="adj" fmla="val 14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1125" y="4670971"/>
            <a:ext cx="50082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carries a link, not the intel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81125" y="5271046"/>
            <a:ext cx="4689539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 line carries no intelligence — never the matched keyword, never the handle. The body carries a summary and a deep link; the recipient authenticates and reads it in the platform.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553200" y="4356646"/>
            <a:ext cx="5181600" cy="5168354"/>
          </a:xfrm>
          <a:prstGeom prst="roundRect">
            <a:avLst>
              <a:gd name="adj" fmla="val 14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525" y="4670971"/>
            <a:ext cx="50082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gets work items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867525" y="5271046"/>
            <a:ext cx="4689539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Outbound-primary, inbound-status-only. Review a proposal, verify an attribution, rotate a persona credential. Entity names, selectors and assertion content never sync. Jira is never authoritative for intelligence.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39600" y="4356646"/>
            <a:ext cx="5181600" cy="5168354"/>
          </a:xfrm>
          <a:prstGeom prst="roundRect">
            <a:avLst>
              <a:gd name="adj" fmla="val 1474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53925" y="4670971"/>
            <a:ext cx="50082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hygiene, from the start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353925" y="5271046"/>
            <a:ext cx="4689539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windows, digest batching, quiet hours with a priority-1 override. A platform that emails on every hit gets muted in week two — and then the one alert that mattered is muted too.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58842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— THE FIVE-PART ACCESS GATE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92329" y="762000"/>
            <a:ext cx="52266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case-scoped request, as one decision.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1485900"/>
            <a:ext cx="9525" cy="80391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" name="Text 3"/>
          <p:cNvSpPr/>
          <p:nvPr/>
        </p:nvSpPr>
        <p:spPr>
          <a:xfrm>
            <a:off x="1152525" y="1485900"/>
            <a:ext cx="25109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VERB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2525" y="1981200"/>
            <a:ext cx="251099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grants 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2525" y="2484090"/>
            <a:ext cx="2358926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is read from the assignment even when it has expired — so an expired analyst keeps the verb and loses the row.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52525" y="9182100"/>
            <a:ext cx="25109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403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1951" y="1485900"/>
            <a:ext cx="9525" cy="80391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0" name="Text 8"/>
          <p:cNvSpPr/>
          <p:nvPr/>
        </p:nvSpPr>
        <p:spPr>
          <a:xfrm>
            <a:off x="3940076" y="14859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· ASSIGNMENT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40076" y="1981200"/>
            <a:ext cx="2511162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case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40076" y="2484090"/>
            <a:ext cx="235907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unexpired case assignment, checked before existence is revealed.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940076" y="91821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404, not 403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89650" y="1485900"/>
            <a:ext cx="9525" cy="80391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5" name="Text 13"/>
          <p:cNvSpPr/>
          <p:nvPr/>
        </p:nvSpPr>
        <p:spPr>
          <a:xfrm>
            <a:off x="6727775" y="1485900"/>
            <a:ext cx="25109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· CLEARANCE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7775" y="1981200"/>
            <a:ext cx="251099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TLP dominates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27775" y="2484090"/>
            <a:ext cx="235892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ordered lattice, CLEAR through RED, whose order matches the SQL enum.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727775" y="9182100"/>
            <a:ext cx="25109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77201" y="1485900"/>
            <a:ext cx="9525" cy="80391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0" name="Text 18"/>
          <p:cNvSpPr/>
          <p:nvPr/>
        </p:nvSpPr>
        <p:spPr>
          <a:xfrm>
            <a:off x="9515326" y="14859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COMPARTMENTS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15326" y="1981200"/>
            <a:ext cx="2511162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into all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15326" y="2484090"/>
            <a:ext cx="235907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object's compartments are a subset of the caller's.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515326" y="91821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64901" y="1485900"/>
            <a:ext cx="9525" cy="80391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5" name="Text 23"/>
          <p:cNvSpPr/>
          <p:nvPr/>
        </p:nvSpPr>
        <p:spPr>
          <a:xfrm>
            <a:off x="12303026" y="14859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· STEP-UP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03026" y="1981200"/>
            <a:ext cx="2511162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is fresh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03026" y="2484090"/>
            <a:ext cx="235907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Merge, export, purge and sample download demand a recent TOTP login.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303026" y="9182100"/>
            <a:ext cx="2511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C047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401, re-auth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852600" y="1485900"/>
            <a:ext cx="9525" cy="8039100"/>
          </a:xfrm>
          <a:prstGeom prst="rect">
            <a:avLst/>
          </a:prstGeom>
          <a:solidFill>
            <a:srgbClr val="3E9C6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90725" y="1485900"/>
            <a:ext cx="25109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3E9C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FIVE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90725" y="1981200"/>
            <a:ext cx="251099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2400" b="1" spc="-24" kern="0" dirty="0">
                <a:solidFill>
                  <a:srgbClr val="3E9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5090725" y="2484090"/>
            <a:ext cx="2358926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element is protected by its own labels and its case's — the stricter classification, the union of the compartments.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8382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— RUNTIME AND DATA PLANE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066800" y="1562100"/>
            <a:ext cx="3838575" cy="7886700"/>
          </a:xfrm>
          <a:prstGeom prst="roundRect">
            <a:avLst>
              <a:gd name="adj" fmla="val 1985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1125" y="1914525"/>
            <a:ext cx="35309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16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1125" y="2428875"/>
            <a:ext cx="3530918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spc="-25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analyst UI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81125" y="2972693"/>
            <a:ext cx="3306223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HTML, CSS and ES modules under a strict CSP. No build step, no framework. Every value reaching the DOM goes through textContent, and a test enforces it — the UI renders attacker-authored strings all day.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172075" y="1562100"/>
            <a:ext cx="3838575" cy="7886700"/>
          </a:xfrm>
          <a:prstGeom prst="roundRect">
            <a:avLst>
              <a:gd name="adj" fmla="val 1985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914525"/>
            <a:ext cx="35309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16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2428875"/>
            <a:ext cx="3530918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spc="-25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/api/v1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486400" y="2972693"/>
            <a:ext cx="330622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twenty routers, one per subsystem. Rate limit inside, security headers outside, so a 429 still ships a CSP. Errors never stringify a database error to a client.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277350" y="1562100"/>
            <a:ext cx="3838575" cy="7886700"/>
          </a:xfrm>
          <a:prstGeom prst="roundRect">
            <a:avLst>
              <a:gd name="adj" fmla="val 1985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1914525"/>
            <a:ext cx="35309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16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OF RECORD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91675" y="2428875"/>
            <a:ext cx="3306223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spc="-25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16 + pgvector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91675" y="3345061"/>
            <a:ext cx="3306223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Graph, assertion ledger and audit log in one transactional store, so an inference and its justification commit or fail together. Live updates ride LISTEN/NOTIFY inside the writing transaction.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382625" y="1562100"/>
            <a:ext cx="3838575" cy="7886700"/>
          </a:xfrm>
          <a:prstGeom prst="roundRect">
            <a:avLst>
              <a:gd name="adj" fmla="val 1985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96950" y="1914525"/>
            <a:ext cx="35309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216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96950" y="2428875"/>
            <a:ext cx="3530918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spc="-25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 · Redis · SMTP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696950" y="2972693"/>
            <a:ext cx="3306223" cy="2538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storage domains sharing no credentials or blast radius: evidence, raw, samples. Object lock in COMPLIANCE mode, so not even a root credential can alter an exhibit before retention expires.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— THE FOUR INVESTIGATIONS IT WAS BUILT FOR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409700"/>
            <a:ext cx="3943350" cy="8115300"/>
          </a:xfrm>
          <a:prstGeom prst="roundRect">
            <a:avLst>
              <a:gd name="adj" fmla="val 1932"/>
            </a:avLst>
          </a:prstGeom>
          <a:solidFill>
            <a:srgbClr val="0E121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515475"/>
            <a:ext cx="39433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09700"/>
            <a:ext cx="3943350" cy="38100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" name="Shape 5"/>
          <p:cNvSpPr/>
          <p:nvPr/>
        </p:nvSpPr>
        <p:spPr>
          <a:xfrm>
            <a:off x="4848225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8" name="Text 6"/>
          <p:cNvSpPr/>
          <p:nvPr/>
        </p:nvSpPr>
        <p:spPr>
          <a:xfrm>
            <a:off x="1171575" y="1714500"/>
            <a:ext cx="35318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spc="-22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affiliate structure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71575" y="255270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handles across three forums and a leak site. Who is the same person, and when did a vouch turn into a rip-off accusation?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71575" y="4419600"/>
            <a:ext cx="28575" cy="13716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4419600"/>
            <a:ext cx="336994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attribution is reversible, so the call can be withdrawn without losing the observations underneath it.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1575" y="8296275"/>
            <a:ext cx="130686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6350" y="8343900"/>
            <a:ext cx="1173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54635" y="829627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9410" y="834390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26185" y="8296275"/>
            <a:ext cx="103257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960" y="8343900"/>
            <a:ext cx="8992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TRIAGE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71575" y="881062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76350" y="885825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86350" y="1409700"/>
            <a:ext cx="3943350" cy="8115300"/>
          </a:xfrm>
          <a:prstGeom prst="roundRect">
            <a:avLst>
              <a:gd name="adj" fmla="val 1932"/>
            </a:avLst>
          </a:prstGeom>
          <a:solidFill>
            <a:srgbClr val="0E121B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6350" y="9515475"/>
            <a:ext cx="39433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86350" y="1409700"/>
            <a:ext cx="3943350" cy="38100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86350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4" name="Shape 22"/>
          <p:cNvSpPr/>
          <p:nvPr/>
        </p:nvSpPr>
        <p:spPr>
          <a:xfrm>
            <a:off x="9020175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5" name="Text 23"/>
          <p:cNvSpPr/>
          <p:nvPr/>
        </p:nvSpPr>
        <p:spPr>
          <a:xfrm>
            <a:off x="5343525" y="171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spc="-22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Initial-access brokerage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5343525" y="2209800"/>
            <a:ext cx="35318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interesting actor is rarely the loudest one.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43525" y="3048000"/>
            <a:ext cx="28575" cy="17145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28" name="Text 26"/>
          <p:cNvSpPr/>
          <p:nvPr/>
        </p:nvSpPr>
        <p:spPr>
          <a:xfrm>
            <a:off x="5505450" y="3048000"/>
            <a:ext cx="336994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and Burt's constraint find the broker whose removal disconnects two crews — a different answer from the top two by centrality.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43525" y="829627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8300" y="834390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15075" y="8296275"/>
            <a:ext cx="130686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850" y="8343900"/>
            <a:ext cx="1173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98135" y="8296275"/>
            <a:ext cx="62106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2910" y="8343900"/>
            <a:ext cx="4877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ACH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343525" y="8810625"/>
            <a:ext cx="103257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8300" y="8858250"/>
            <a:ext cx="8992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58300" y="1409700"/>
            <a:ext cx="3943350" cy="8115300"/>
          </a:xfrm>
          <a:prstGeom prst="roundRect">
            <a:avLst>
              <a:gd name="adj" fmla="val 1932"/>
            </a:avLst>
          </a:prstGeom>
          <a:solidFill>
            <a:srgbClr val="0E121B"/>
          </a:solidFill>
          <a:ln/>
        </p:spPr>
      </p:sp>
      <p:sp>
        <p:nvSpPr>
          <p:cNvPr id="38" name="Shape 36"/>
          <p:cNvSpPr/>
          <p:nvPr/>
        </p:nvSpPr>
        <p:spPr>
          <a:xfrm>
            <a:off x="9258300" y="9515475"/>
            <a:ext cx="39433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9" name="Shape 37"/>
          <p:cNvSpPr/>
          <p:nvPr/>
        </p:nvSpPr>
        <p:spPr>
          <a:xfrm>
            <a:off x="9258300" y="1409700"/>
            <a:ext cx="3943350" cy="38100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8300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41" name="Shape 39"/>
          <p:cNvSpPr/>
          <p:nvPr/>
        </p:nvSpPr>
        <p:spPr>
          <a:xfrm>
            <a:off x="13192125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42" name="Text 40"/>
          <p:cNvSpPr/>
          <p:nvPr/>
        </p:nvSpPr>
        <p:spPr>
          <a:xfrm>
            <a:off x="9515475" y="1714500"/>
            <a:ext cx="35318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spc="-22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email compromise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9515475" y="2552700"/>
            <a:ext cx="35318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finance team paid the wrong account. You have the mail, a phishing page and a phone call.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515475" y="3733800"/>
            <a:ext cx="28575" cy="13716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45" name="Text 43"/>
          <p:cNvSpPr/>
          <p:nvPr/>
        </p:nvSpPr>
        <p:spPr>
          <a:xfrm>
            <a:off x="9677400" y="3733800"/>
            <a:ext cx="336994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Received chain is trustworthy inwards only. The spoofed caller ID never touches the carrier's attestation.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515475" y="8296275"/>
            <a:ext cx="1444079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20250" y="8343900"/>
            <a:ext cx="1310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DECEPTION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035754" y="8296275"/>
            <a:ext cx="130686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40529" y="8343900"/>
            <a:ext cx="1173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515475" y="881062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20250" y="885825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487025" y="8810625"/>
            <a:ext cx="103257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91800" y="8858250"/>
            <a:ext cx="8992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3430250" y="1409700"/>
            <a:ext cx="3943350" cy="8115300"/>
          </a:xfrm>
          <a:prstGeom prst="roundRect">
            <a:avLst>
              <a:gd name="adj" fmla="val 1932"/>
            </a:avLst>
          </a:prstGeom>
          <a:solidFill>
            <a:srgbClr val="0E121B"/>
          </a:solidFill>
          <a:ln/>
        </p:spPr>
      </p:sp>
      <p:sp>
        <p:nvSpPr>
          <p:cNvPr id="55" name="Shape 53"/>
          <p:cNvSpPr/>
          <p:nvPr/>
        </p:nvSpPr>
        <p:spPr>
          <a:xfrm>
            <a:off x="13430250" y="9515475"/>
            <a:ext cx="394335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6" name="Shape 54"/>
          <p:cNvSpPr/>
          <p:nvPr/>
        </p:nvSpPr>
        <p:spPr>
          <a:xfrm>
            <a:off x="13430250" y="1409700"/>
            <a:ext cx="3943350" cy="38100"/>
          </a:xfrm>
          <a:prstGeom prst="rect">
            <a:avLst/>
          </a:prstGeom>
          <a:solidFill>
            <a:srgbClr val="6E8FD4"/>
          </a:solidFill>
          <a:ln/>
        </p:spPr>
      </p:sp>
      <p:sp>
        <p:nvSpPr>
          <p:cNvPr id="57" name="Shape 55"/>
          <p:cNvSpPr/>
          <p:nvPr/>
        </p:nvSpPr>
        <p:spPr>
          <a:xfrm>
            <a:off x="13430250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64075" y="1409700"/>
            <a:ext cx="9525" cy="8115300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59" name="Text 57"/>
          <p:cNvSpPr/>
          <p:nvPr/>
        </p:nvSpPr>
        <p:spPr>
          <a:xfrm>
            <a:off x="13687425" y="171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spc="-22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and mule networks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13687425" y="2209800"/>
            <a:ext cx="35318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transactions are the easy part.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687425" y="3048000"/>
            <a:ext cx="28575" cy="1714500"/>
          </a:xfrm>
          <a:prstGeom prst="rect">
            <a:avLst/>
          </a:prstGeom>
          <a:solidFill>
            <a:srgbClr val="4EA8A0"/>
          </a:solidFill>
          <a:ln/>
        </p:spPr>
      </p:sp>
      <p:sp>
        <p:nvSpPr>
          <p:cNvPr id="62" name="Text 60"/>
          <p:cNvSpPr/>
          <p:nvPr/>
        </p:nvSpPr>
        <p:spPr>
          <a:xfrm>
            <a:off x="13849350" y="3048000"/>
            <a:ext cx="336994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layer above them — who recruited whom, which guarantor turns up in unrelated disputes — is what the sociogram is for.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3687425" y="829627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92200" y="834390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4658975" y="8296275"/>
            <a:ext cx="89535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763750" y="8343900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FEEDS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630525" y="8296275"/>
            <a:ext cx="1306860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735300" y="8343900"/>
            <a:ext cx="11735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3687425" y="8810625"/>
            <a:ext cx="1444079" cy="438150"/>
          </a:xfrm>
          <a:prstGeom prst="roundRect">
            <a:avLst>
              <a:gd name="adj" fmla="val 8696"/>
            </a:avLst>
          </a:prstGeom>
          <a:solidFill>
            <a:srgbClr val="151A26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792200" y="8858250"/>
            <a:ext cx="13107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LIFECYCLE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— A SESSION, START TO FINISH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62100"/>
            <a:ext cx="2584400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525" y="1838325"/>
            <a:ext cx="23189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2525" y="2314575"/>
            <a:ext cx="23189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case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52525" y="2767905"/>
            <a:ext cx="218435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basis, a retention date, a review date and a TLP classification. Every element inside inherits that floor.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89300" y="1562100"/>
            <a:ext cx="2584400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27425" y="1838325"/>
            <a:ext cx="23189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27425" y="2314575"/>
            <a:ext cx="21843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in what you have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27425" y="3087886"/>
            <a:ext cx="218435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Paste, upload, drop in a contact block, attach a .eml. Extraction raises proposals; it does not touch the graph.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64201" y="1562100"/>
            <a:ext cx="2584549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326" y="1838325"/>
            <a:ext cx="23191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02326" y="2314575"/>
            <a:ext cx="23191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02326" y="2767905"/>
            <a:ext cx="2184499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Accept, reject or defer, keyboard-driven. An acceptance writes an assertion with the machine's rationale.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39250" y="1562100"/>
            <a:ext cx="2584400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7375" y="1838325"/>
            <a:ext cx="23189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77375" y="2314575"/>
            <a:ext cx="21843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shape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77375" y="3087886"/>
            <a:ext cx="218435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projection, run the metrics, drag the timeline to see what was believed last month.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14150" y="1562100"/>
            <a:ext cx="2584400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275" y="1838325"/>
            <a:ext cx="23189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52275" y="2314575"/>
            <a:ext cx="21843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explanation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252275" y="3087886"/>
            <a:ext cx="218435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competing hypotheses. The ones that did not survive go in the report beside the one that did.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789051" y="1562100"/>
            <a:ext cx="2584549" cy="7886700"/>
          </a:xfrm>
          <a:prstGeom prst="roundRect">
            <a:avLst>
              <a:gd name="adj" fmla="val 2948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27176" y="1838325"/>
            <a:ext cx="23191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4EA8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27176" y="2314575"/>
            <a:ext cx="23191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it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5027176" y="2767905"/>
            <a:ext cx="218449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at a target classification, then pass the egress gate — which records the decision either way.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6301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— THE RULES THAT HOLD THE WIRING TOGETHER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88623" y="838200"/>
            <a:ext cx="324835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the twelve invariants.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14400" y="156210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90625" y="185737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78335" y="1857375"/>
            <a:ext cx="47232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a fact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8335" y="2295525"/>
            <a:ext cx="4422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constraint triggers on node and edge, so it holds against any write path — including a mistaken one.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77000" y="156210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53225" y="185737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240935" y="1857375"/>
            <a:ext cx="4422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propose, analysts dispose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240935" y="2638425"/>
            <a:ext cx="4422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store holds no writer. There is no code path from an extractor to the graph.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39600" y="156210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15825" y="185737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803535" y="1857375"/>
            <a:ext cx="47232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 edges stay distinct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803535" y="2295525"/>
            <a:ext cx="4422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on the canvas, and out of the metrics unless a projection opts 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61975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0625" y="591502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78335" y="5915025"/>
            <a:ext cx="47232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TLP gates egress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678335" y="6353175"/>
            <a:ext cx="4422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function, called by export, SMTP, Jira and webhooks alike, so no per-integration copy can drift.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77000" y="561975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3225" y="591502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240935" y="5915025"/>
            <a:ext cx="44226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identifiers, not displayed ones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240935" y="6696075"/>
            <a:ext cx="4422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 indexes the 64-hex key because the nospam rotates; Telegram the numeric id, because usernames are recycled.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39600" y="5619750"/>
            <a:ext cx="5334000" cy="3829050"/>
          </a:xfrm>
          <a:prstGeom prst="roundRect">
            <a:avLst>
              <a:gd name="adj" fmla="val 1990"/>
            </a:avLst>
          </a:prstGeom>
          <a:solidFill>
            <a:srgbClr val="0E121B"/>
          </a:solidFill>
          <a:ln w="9525">
            <a:solidFill>
              <a:srgbClr val="3038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15825" y="5915025"/>
            <a:ext cx="373410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803535" y="5915025"/>
            <a:ext cx="47232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25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keys are write-only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803535" y="6353175"/>
            <a:ext cx="442265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 constraint says so. A leaked ingest key means junk data, never the case file.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— CAPABILITY IS NOT AUTHORISATION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09700"/>
            <a:ext cx="157162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blocking items, none of them a software problem.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914400" y="2308771"/>
            <a:ext cx="1530477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refuses several operations until an operator declares a policy — and a declaration is a string this software stores, not a fact it verifies. A false or absent declaration produces a working system and an unlawful deployment, and the difference is invisible from inside the code.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3727996"/>
            <a:ext cx="3124200" cy="5797004"/>
          </a:xfrm>
          <a:prstGeom prst="roundRect">
            <a:avLst>
              <a:gd name="adj" fmla="val 2439"/>
            </a:avLst>
          </a:prstGeom>
          <a:solidFill>
            <a:srgbClr val="0E121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515475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727996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727996"/>
            <a:ext cx="28575" cy="579700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9" name="Shape 7"/>
          <p:cNvSpPr/>
          <p:nvPr/>
        </p:nvSpPr>
        <p:spPr>
          <a:xfrm>
            <a:off x="4029075" y="3727996"/>
            <a:ext cx="9525" cy="57970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3985171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52525" y="4470946"/>
            <a:ext cx="2933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content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52525" y="4905226"/>
            <a:ext cx="274701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store that ingests attacker-supplied binaries needs a preservation-versus-destruction policy written with counsel.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48150" y="3727996"/>
            <a:ext cx="3124200" cy="5797004"/>
          </a:xfrm>
          <a:prstGeom prst="roundRect">
            <a:avLst>
              <a:gd name="adj" fmla="val 2439"/>
            </a:avLst>
          </a:prstGeom>
          <a:solidFill>
            <a:srgbClr val="0E121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8150" y="9515475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5" name="Shape 13"/>
          <p:cNvSpPr/>
          <p:nvPr/>
        </p:nvSpPr>
        <p:spPr>
          <a:xfrm>
            <a:off x="4248150" y="3727996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6" name="Shape 14"/>
          <p:cNvSpPr/>
          <p:nvPr/>
        </p:nvSpPr>
        <p:spPr>
          <a:xfrm>
            <a:off x="4248150" y="3727996"/>
            <a:ext cx="28575" cy="579700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2825" y="3727996"/>
            <a:ext cx="9525" cy="57970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6275" y="3985171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486275" y="4470946"/>
            <a:ext cx="2933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victim data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486275" y="4905226"/>
            <a:ext cx="274701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Stealer logs holding data on thousands of uninvolved people. Ninety days is a placeholder somebody typed.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81900" y="3727996"/>
            <a:ext cx="3124200" cy="5797004"/>
          </a:xfrm>
          <a:prstGeom prst="roundRect">
            <a:avLst>
              <a:gd name="adj" fmla="val 2439"/>
            </a:avLst>
          </a:prstGeom>
          <a:solidFill>
            <a:srgbClr val="0E121B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1900" y="9515475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1900" y="3727996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1900" y="3727996"/>
            <a:ext cx="28575" cy="579700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6575" y="3727996"/>
            <a:ext cx="9525" cy="57970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26" name="Text 24"/>
          <p:cNvSpPr/>
          <p:nvPr/>
        </p:nvSpPr>
        <p:spPr>
          <a:xfrm>
            <a:off x="7820025" y="3985171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820025" y="4470946"/>
            <a:ext cx="2933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Covert personas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820025" y="4905226"/>
            <a:ext cx="274701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a system with credentials registered under a false identity engages computer-misuse law in several jurisdictions.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15650" y="3727996"/>
            <a:ext cx="3124200" cy="5797004"/>
          </a:xfrm>
          <a:prstGeom prst="roundRect">
            <a:avLst>
              <a:gd name="adj" fmla="val 2439"/>
            </a:avLst>
          </a:prstGeom>
          <a:solidFill>
            <a:srgbClr val="0E121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15650" y="9515475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15650" y="3727996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15650" y="3727996"/>
            <a:ext cx="28575" cy="579700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3" name="Shape 31"/>
          <p:cNvSpPr/>
          <p:nvPr/>
        </p:nvSpPr>
        <p:spPr>
          <a:xfrm>
            <a:off x="14030325" y="3727996"/>
            <a:ext cx="9525" cy="57970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4" name="Text 32"/>
          <p:cNvSpPr/>
          <p:nvPr/>
        </p:nvSpPr>
        <p:spPr>
          <a:xfrm>
            <a:off x="11153775" y="3985171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153775" y="4470946"/>
            <a:ext cx="2933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capture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1153775" y="4905226"/>
            <a:ext cx="274701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Interception law, one- versus two-party consent, and third parties' content in group channels.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249400" y="3727996"/>
            <a:ext cx="3124200" cy="5797004"/>
          </a:xfrm>
          <a:prstGeom prst="roundRect">
            <a:avLst>
              <a:gd name="adj" fmla="val 2439"/>
            </a:avLst>
          </a:prstGeom>
          <a:solidFill>
            <a:srgbClr val="0E121B"/>
          </a:solidFill>
          <a:ln/>
        </p:spPr>
      </p:sp>
      <p:sp>
        <p:nvSpPr>
          <p:cNvPr id="38" name="Shape 36"/>
          <p:cNvSpPr/>
          <p:nvPr/>
        </p:nvSpPr>
        <p:spPr>
          <a:xfrm>
            <a:off x="14249400" y="9515475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249400" y="3727996"/>
            <a:ext cx="3124200" cy="9525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40" name="Shape 38"/>
          <p:cNvSpPr/>
          <p:nvPr/>
        </p:nvSpPr>
        <p:spPr>
          <a:xfrm>
            <a:off x="14249400" y="3727996"/>
            <a:ext cx="28575" cy="579700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1" name="Shape 39"/>
          <p:cNvSpPr/>
          <p:nvPr/>
        </p:nvSpPr>
        <p:spPr>
          <a:xfrm>
            <a:off x="17364075" y="3727996"/>
            <a:ext cx="9525" cy="5797004"/>
          </a:xfrm>
          <a:prstGeom prst="rect">
            <a:avLst/>
          </a:prstGeom>
          <a:solidFill>
            <a:srgbClr val="303849"/>
          </a:solidFill>
          <a:ln/>
        </p:spPr>
      </p:sp>
      <p:sp>
        <p:nvSpPr>
          <p:cNvPr id="42" name="Text 40"/>
          <p:cNvSpPr/>
          <p:nvPr/>
        </p:nvSpPr>
        <p:spPr>
          <a:xfrm>
            <a:off x="14487525" y="3985171"/>
            <a:ext cx="2933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D4A0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4487525" y="4470946"/>
            <a:ext cx="2933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capture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4487525" y="4905226"/>
            <a:ext cx="274701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attacker infrastructure — and separately, entering any input into a phishing page, including canary credentials.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77698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spc="324" kern="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— WHY IT IS BUILT THIS WAY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800" y="3733800"/>
            <a:ext cx="149123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4500" b="1" spc="-90" kern="0" dirty="0">
                <a:solidFill>
                  <a:srgbClr val="E4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 chart is a picture of what somebody believed. </a:t>
            </a:r>
            <a:pPr algn="l" indent="0" marL="0">
              <a:lnSpc>
                <a:spcPct val="104348"/>
              </a:lnSpc>
              <a:buNone/>
            </a:pPr>
            <a:r>
              <a:rPr lang="en-US" sz="4500" b="1" spc="-90" kern="0" dirty="0">
                <a:solidFill>
                  <a:srgbClr val="4E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case file that survives disclosure.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66800" y="5410200"/>
            <a:ext cx="149123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98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 node on the chart why you say that, and you get a chain back to a WORM-locked exhibit with an unbroken custody log.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6800" y="8686800"/>
            <a:ext cx="1169257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Reviewed adversarially eight times. Every pass found a real defect. Assume the ninth would too.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99814" y="8686800"/>
            <a:ext cx="4554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800" dirty="0">
                <a:solidFill>
                  <a:srgbClr val="626C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 · ARCHITECTURE.md · docs/18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2026-08-10T16:54:05Z</dcterms:created>
  <dcterms:modified xsi:type="dcterms:W3CDTF">2026-08-10T16:54:05Z</dcterms:modified>
</cp:coreProperties>
</file>